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3AED"/>
    <a:srgbClr val="D33F88"/>
    <a:srgbClr val="4C9EF6"/>
    <a:srgbClr val="ED4899"/>
    <a:srgbClr val="4FA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 snapToObjects="1">
      <p:cViewPr>
        <p:scale>
          <a:sx n="95" d="100"/>
          <a:sy n="95" d="100"/>
        </p:scale>
        <p:origin x="11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68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Tela de celular&#10;&#10;O conteúdo gerado por IA pode estar incorreto.">
            <a:extLst>
              <a:ext uri="{FF2B5EF4-FFF2-40B4-BE49-F238E27FC236}">
                <a16:creationId xmlns:a16="http://schemas.microsoft.com/office/drawing/2014/main" id="{BE410FAA-5239-7ECB-1518-6DF662572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80" b="596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7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ocumento 29">
            <a:extLst>
              <a:ext uri="{FF2B5EF4-FFF2-40B4-BE49-F238E27FC236}">
                <a16:creationId xmlns:a16="http://schemas.microsoft.com/office/drawing/2014/main" id="{998A5E1A-0AB9-07BD-2DA2-7601BF50491C}"/>
              </a:ext>
            </a:extLst>
          </p:cNvPr>
          <p:cNvSpPr/>
          <p:nvPr/>
        </p:nvSpPr>
        <p:spPr>
          <a:xfrm>
            <a:off x="-30480" y="-22860"/>
            <a:ext cx="12252960" cy="1188720"/>
          </a:xfrm>
          <a:prstGeom prst="flowChartDocument">
            <a:avLst/>
          </a:prstGeom>
          <a:solidFill>
            <a:srgbClr val="7C3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 0"/>
          <p:cNvSpPr/>
          <p:nvPr/>
        </p:nvSpPr>
        <p:spPr>
          <a:xfrm>
            <a:off x="324612" y="91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68096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construiu o Aurora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3816" y="2194560"/>
            <a:ext cx="2468880" cy="32918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8176" y="25146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408176" y="26517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05256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Lucas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5256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5256" y="4800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 período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11296" y="2194560"/>
            <a:ext cx="2468880" cy="32918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105656" y="2514600"/>
            <a:ext cx="1280160" cy="12801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05656" y="26517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602736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Gabriella Tavares Pedroso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02736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02736" y="4800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 </a:t>
            </a:r>
            <a:r>
              <a:rPr lang="en-US" sz="11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2194560"/>
            <a:ext cx="2468880" cy="32918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803136" y="25146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8" name="Text 16"/>
          <p:cNvSpPr/>
          <p:nvPr/>
        </p:nvSpPr>
        <p:spPr>
          <a:xfrm>
            <a:off x="6803136" y="26517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300216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Erich Augusto Natal da Silva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0216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0216" y="4800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 período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06256" y="2194560"/>
            <a:ext cx="2468880" cy="32918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3" name="Shape 21"/>
          <p:cNvSpPr/>
          <p:nvPr/>
        </p:nvSpPr>
        <p:spPr>
          <a:xfrm>
            <a:off x="9500616" y="2514600"/>
            <a:ext cx="1280160" cy="12801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500616" y="26517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8997696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</a:t>
            </a:r>
            <a:r>
              <a:rPr lang="en-US" sz="1600" b="1" dirty="0" err="1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Iichiro</a:t>
            </a:r>
            <a:r>
              <a:rPr lang="en-US" sz="16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Nagata</a:t>
            </a:r>
          </a:p>
        </p:txBody>
      </p:sp>
      <p:sp>
        <p:nvSpPr>
          <p:cNvPr id="26" name="Text 24"/>
          <p:cNvSpPr/>
          <p:nvPr/>
        </p:nvSpPr>
        <p:spPr>
          <a:xfrm>
            <a:off x="8997696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97696" y="4800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período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•  Experiência Criativa 2026.1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 Arredondado 40">
            <a:extLst>
              <a:ext uri="{FF2B5EF4-FFF2-40B4-BE49-F238E27FC236}">
                <a16:creationId xmlns:a16="http://schemas.microsoft.com/office/drawing/2014/main" id="{3CF6867C-E400-3B3B-97A1-99DD3A192385}"/>
              </a:ext>
            </a:extLst>
          </p:cNvPr>
          <p:cNvSpPr/>
          <p:nvPr/>
        </p:nvSpPr>
        <p:spPr>
          <a:xfrm>
            <a:off x="5182218" y="3677484"/>
            <a:ext cx="1853514" cy="2028979"/>
          </a:xfrm>
          <a:prstGeom prst="roundRect">
            <a:avLst/>
          </a:prstGeom>
          <a:solidFill>
            <a:schemeClr val="bg1"/>
          </a:solidFill>
          <a:ln>
            <a:solidFill>
              <a:srgbClr val="D33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dirty="0"/>
          </a:p>
        </p:txBody>
      </p:sp>
      <p:sp>
        <p:nvSpPr>
          <p:cNvPr id="39" name="Retângulo Arredondado 38">
            <a:extLst>
              <a:ext uri="{FF2B5EF4-FFF2-40B4-BE49-F238E27FC236}">
                <a16:creationId xmlns:a16="http://schemas.microsoft.com/office/drawing/2014/main" id="{75C18BDB-146D-BE0E-49E1-FD0CBC01D341}"/>
              </a:ext>
            </a:extLst>
          </p:cNvPr>
          <p:cNvSpPr/>
          <p:nvPr/>
        </p:nvSpPr>
        <p:spPr>
          <a:xfrm>
            <a:off x="2832083" y="3726988"/>
            <a:ext cx="1853514" cy="2028979"/>
          </a:xfrm>
          <a:prstGeom prst="roundRect">
            <a:avLst/>
          </a:prstGeom>
          <a:solidFill>
            <a:schemeClr val="bg1"/>
          </a:solidFill>
          <a:ln>
            <a:solidFill>
              <a:srgbClr val="4C9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dirty="0"/>
          </a:p>
        </p:txBody>
      </p:sp>
      <p:sp>
        <p:nvSpPr>
          <p:cNvPr id="37" name="Retângulo Arredondado 36">
            <a:extLst>
              <a:ext uri="{FF2B5EF4-FFF2-40B4-BE49-F238E27FC236}">
                <a16:creationId xmlns:a16="http://schemas.microsoft.com/office/drawing/2014/main" id="{B6218FAB-A012-26FC-FD0E-772F8A4A6992}"/>
              </a:ext>
            </a:extLst>
          </p:cNvPr>
          <p:cNvSpPr/>
          <p:nvPr/>
        </p:nvSpPr>
        <p:spPr>
          <a:xfrm>
            <a:off x="548640" y="3726989"/>
            <a:ext cx="1853514" cy="2028979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pt-BR" dirty="0"/>
          </a:p>
        </p:txBody>
      </p:sp>
      <p:sp>
        <p:nvSpPr>
          <p:cNvPr id="20" name="Documento 19">
            <a:extLst>
              <a:ext uri="{FF2B5EF4-FFF2-40B4-BE49-F238E27FC236}">
                <a16:creationId xmlns:a16="http://schemas.microsoft.com/office/drawing/2014/main" id="{C507D734-CABC-9850-D85A-5466AEE84498}"/>
              </a:ext>
            </a:extLst>
          </p:cNvPr>
          <p:cNvSpPr/>
          <p:nvPr/>
        </p:nvSpPr>
        <p:spPr>
          <a:xfrm>
            <a:off x="-30480" y="-22860"/>
            <a:ext cx="12252960" cy="1188720"/>
          </a:xfrm>
          <a:prstGeom prst="flowChartDocument">
            <a:avLst/>
          </a:prstGeom>
          <a:solidFill>
            <a:srgbClr val="7C3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 0"/>
          <p:cNvSpPr/>
          <p:nvPr/>
        </p:nvSpPr>
        <p:spPr>
          <a:xfrm>
            <a:off x="548640" y="91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pensamos no Aurora?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915668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de streaming musical hoje oferecem catálogos enormes, mas a experiência de descoberta e organização ainda é pouco personalizada.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506960" y="5715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506960" y="1152144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863840" y="1381760"/>
            <a:ext cx="3990340" cy="3037840"/>
          </a:xfrm>
          <a:prstGeom prst="roundRect">
            <a:avLst>
              <a:gd name="adj" fmla="val 4444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591550" y="1641348"/>
            <a:ext cx="26035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7863840" y="322961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Calibri" pitchFamily="34" charset="-120"/>
              </a:rPr>
              <a:t>dos ouvintes querem mais ferramentas de descoberta personalizada de música</a:t>
            </a:r>
            <a:endParaRPr lang="en-US" sz="1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73060" y="3886059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0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interna — base de usuários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•  Experiência Criativa 2026.1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F4CF71C3-1F86-FEA7-A889-0A245A748B07}"/>
              </a:ext>
            </a:extLst>
          </p:cNvPr>
          <p:cNvGrpSpPr/>
          <p:nvPr/>
        </p:nvGrpSpPr>
        <p:grpSpPr>
          <a:xfrm>
            <a:off x="965475" y="3224858"/>
            <a:ext cx="5586730" cy="807847"/>
            <a:chOff x="548640" y="3229610"/>
            <a:chExt cx="5586730" cy="8078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B3E625A6-6C2A-826A-A31A-23E97890631E}"/>
                </a:ext>
              </a:extLst>
            </p:cNvPr>
            <p:cNvGrpSpPr/>
            <p:nvPr/>
          </p:nvGrpSpPr>
          <p:grpSpPr>
            <a:xfrm>
              <a:off x="548640" y="3229610"/>
              <a:ext cx="3236595" cy="807847"/>
              <a:chOff x="548640" y="3229610"/>
              <a:chExt cx="3236595" cy="80784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C813D1B-5EF2-D293-48EC-03A52DB4BCB3}"/>
                  </a:ext>
                </a:extLst>
              </p:cNvPr>
              <p:cNvSpPr/>
              <p:nvPr/>
            </p:nvSpPr>
            <p:spPr>
              <a:xfrm>
                <a:off x="2898775" y="3241167"/>
                <a:ext cx="886460" cy="796290"/>
              </a:xfrm>
              <a:prstGeom prst="ellipse">
                <a:avLst/>
              </a:prstGeom>
              <a:solidFill>
                <a:srgbClr val="4FA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grpSp>
            <p:nvGrpSpPr>
              <p:cNvPr id="33" name="Agrupar 32">
                <a:extLst>
                  <a:ext uri="{FF2B5EF4-FFF2-40B4-BE49-F238E27FC236}">
                    <a16:creationId xmlns:a16="http://schemas.microsoft.com/office/drawing/2014/main" id="{7111287F-58DD-CBAC-2F6A-CBB3E56B0665}"/>
                  </a:ext>
                </a:extLst>
              </p:cNvPr>
              <p:cNvGrpSpPr/>
              <p:nvPr/>
            </p:nvGrpSpPr>
            <p:grpSpPr>
              <a:xfrm>
                <a:off x="548640" y="3229610"/>
                <a:ext cx="886460" cy="796290"/>
                <a:chOff x="548640" y="3229610"/>
                <a:chExt cx="886460" cy="796290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3C11D717-0C1E-0282-D702-F896F16189DB}"/>
                    </a:ext>
                  </a:extLst>
                </p:cNvPr>
                <p:cNvSpPr/>
                <p:nvPr/>
              </p:nvSpPr>
              <p:spPr>
                <a:xfrm>
                  <a:off x="548640" y="3229610"/>
                  <a:ext cx="886460" cy="796290"/>
                </a:xfrm>
                <a:prstGeom prst="ellipse">
                  <a:avLst/>
                </a:prstGeom>
                <a:solidFill>
                  <a:srgbClr val="7C3AE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pic>
              <p:nvPicPr>
                <p:cNvPr id="28" name="Imagem 27">
                  <a:extLst>
                    <a:ext uri="{FF2B5EF4-FFF2-40B4-BE49-F238E27FC236}">
                      <a16:creationId xmlns:a16="http://schemas.microsoft.com/office/drawing/2014/main" id="{BD65C1F0-F04C-526A-D288-55732DA595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9986" y="3388887"/>
                  <a:ext cx="477735" cy="477735"/>
                </a:xfrm>
                <a:prstGeom prst="rect">
                  <a:avLst/>
                </a:prstGeom>
              </p:spPr>
            </p:pic>
          </p:grpSp>
          <p:pic>
            <p:nvPicPr>
              <p:cNvPr id="30" name="Imagem 29">
                <a:extLst>
                  <a:ext uri="{FF2B5EF4-FFF2-40B4-BE49-F238E27FC236}">
                    <a16:creationId xmlns:a16="http://schemas.microsoft.com/office/drawing/2014/main" id="{E79EADFA-68B0-F55A-ADBA-5EE73F2619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9960" y="3381969"/>
                <a:ext cx="504090" cy="504090"/>
              </a:xfrm>
              <a:prstGeom prst="rect">
                <a:avLst/>
              </a:prstGeom>
            </p:spPr>
          </p:pic>
        </p:grpSp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9987AE62-8E4B-4E71-BC47-64758C4240B6}"/>
                </a:ext>
              </a:extLst>
            </p:cNvPr>
            <p:cNvGrpSpPr/>
            <p:nvPr/>
          </p:nvGrpSpPr>
          <p:grpSpPr>
            <a:xfrm>
              <a:off x="5248910" y="3229610"/>
              <a:ext cx="886460" cy="796290"/>
              <a:chOff x="5248910" y="3229610"/>
              <a:chExt cx="886460" cy="79629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191C64F-946E-C7E0-C6B4-D2EE1FFD7E73}"/>
                  </a:ext>
                </a:extLst>
              </p:cNvPr>
              <p:cNvSpPr/>
              <p:nvPr/>
            </p:nvSpPr>
            <p:spPr>
              <a:xfrm>
                <a:off x="5248910" y="3229610"/>
                <a:ext cx="886460" cy="796290"/>
              </a:xfrm>
              <a:prstGeom prst="ellipse">
                <a:avLst/>
              </a:prstGeom>
              <a:solidFill>
                <a:srgbClr val="ED48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32" name="Imagem 31">
                <a:extLst>
                  <a:ext uri="{FF2B5EF4-FFF2-40B4-BE49-F238E27FC236}">
                    <a16:creationId xmlns:a16="http://schemas.microsoft.com/office/drawing/2014/main" id="{9AC4771D-DE7B-1888-F571-619384AD5E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87340" y="3322954"/>
                <a:ext cx="609600" cy="609600"/>
              </a:xfrm>
              <a:prstGeom prst="rect">
                <a:avLst/>
              </a:prstGeom>
            </p:spPr>
          </p:pic>
        </p:grp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B547EE2-8ECD-CE3D-51DB-3231446DA59C}"/>
              </a:ext>
            </a:extLst>
          </p:cNvPr>
          <p:cNvSpPr txBox="1"/>
          <p:nvPr/>
        </p:nvSpPr>
        <p:spPr>
          <a:xfrm>
            <a:off x="612339" y="4242227"/>
            <a:ext cx="172611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</a:rPr>
              <a:t>Dificuldade em filtrar músicas por gênero e descobrir novidades dentro do gosto do usuário</a:t>
            </a:r>
          </a:p>
          <a:p>
            <a:endParaRPr lang="pt-BR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68DD3BD-3967-2031-7CFE-3C5F2060EF53}"/>
              </a:ext>
            </a:extLst>
          </p:cNvPr>
          <p:cNvSpPr txBox="1"/>
          <p:nvPr/>
        </p:nvSpPr>
        <p:spPr>
          <a:xfrm>
            <a:off x="2895782" y="4248005"/>
            <a:ext cx="172611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ea typeface="Calibri" pitchFamily="34" charset="-122"/>
                <a:cs typeface="Calibri" pitchFamily="34" charset="-120"/>
              </a:rPr>
              <a:t>Playlists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ea typeface="Calibri" pitchFamily="34" charset="-122"/>
                <a:cs typeface="Calibri" pitchFamily="34" charset="-120"/>
              </a:rPr>
              <a:t>pessoais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ea typeface="Calibri" pitchFamily="34" charset="-122"/>
                <a:cs typeface="Calibri" pitchFamily="34" charset="-120"/>
              </a:rPr>
              <a:t>pouca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ea typeface="Calibri" pitchFamily="34" charset="-122"/>
                <a:cs typeface="Calibri" pitchFamily="34" charset="-120"/>
              </a:rPr>
              <a:t>flexibilidade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ea typeface="Calibri" pitchFamily="34" charset="-122"/>
                <a:cs typeface="Calibri" pitchFamily="34" charset="-120"/>
              </a:rPr>
              <a:t>curadoria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Apple Braille" pitchFamily="2" charset="0"/>
            </a:endParaRPr>
          </a:p>
          <a:p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1CCC5AC4-2A2A-EC14-6C67-7603F89E33CB}"/>
              </a:ext>
            </a:extLst>
          </p:cNvPr>
          <p:cNvSpPr txBox="1"/>
          <p:nvPr/>
        </p:nvSpPr>
        <p:spPr>
          <a:xfrm>
            <a:off x="5314762" y="4242227"/>
            <a:ext cx="148486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cs typeface="Calibri" pitchFamily="34" charset="-120"/>
              </a:rPr>
              <a:t>Falta de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cs typeface="Calibri" pitchFamily="34" charset="-120"/>
              </a:rPr>
              <a:t>uma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cs typeface="Calibri" pitchFamily="34" charset="-120"/>
              </a:rPr>
              <a:t>identidade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cs typeface="Calibri" pitchFamily="34" charset="-120"/>
              </a:rPr>
              <a:t> visual que valorize a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cs typeface="Calibri" pitchFamily="34" charset="-120"/>
              </a:rPr>
              <a:t>experiência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ple Braille" pitchFamily="2" charset="0"/>
                <a:cs typeface="Calibri" pitchFamily="34" charset="-120"/>
              </a:rPr>
              <a:t> musical</a:t>
            </a:r>
          </a:p>
          <a:p>
            <a:endParaRPr lang="pt-BR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DB445BAE-7F82-AAEB-4CD8-647FAA6CC5DE}"/>
              </a:ext>
            </a:extLst>
          </p:cNvPr>
          <p:cNvSpPr/>
          <p:nvPr/>
        </p:nvSpPr>
        <p:spPr>
          <a:xfrm>
            <a:off x="12527280" y="1700784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ocumento 23">
            <a:extLst>
              <a:ext uri="{FF2B5EF4-FFF2-40B4-BE49-F238E27FC236}">
                <a16:creationId xmlns:a16="http://schemas.microsoft.com/office/drawing/2014/main" id="{D7EAC02C-B126-BC38-B18F-98DA6C121E4D}"/>
              </a:ext>
            </a:extLst>
          </p:cNvPr>
          <p:cNvSpPr/>
          <p:nvPr/>
        </p:nvSpPr>
        <p:spPr>
          <a:xfrm>
            <a:off x="-30480" y="-22860"/>
            <a:ext cx="12252960" cy="1188720"/>
          </a:xfrm>
          <a:prstGeom prst="flowChartDocument">
            <a:avLst/>
          </a:prstGeom>
          <a:solidFill>
            <a:srgbClr val="7C3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 0"/>
          <p:cNvSpPr/>
          <p:nvPr/>
        </p:nvSpPr>
        <p:spPr>
          <a:xfrm>
            <a:off x="457200" y="17145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Nossos Objetivos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70916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entregas centrais do Aurora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0916" y="201168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70916" y="2011680"/>
            <a:ext cx="356616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70916" y="2240280"/>
            <a:ext cx="3566160" cy="2286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5236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45236" y="4114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por gênero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5236" y="47091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inteligentes que permitem ao usuário explorar playlists e músicas pelos seus gêneros preferidos.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1396" y="201168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311396" y="2011680"/>
            <a:ext cx="3566160" cy="457200"/>
          </a:xfrm>
          <a:prstGeom prst="roundRect">
            <a:avLst>
              <a:gd name="adj" fmla="val 3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311396" y="2240280"/>
            <a:ext cx="3566160" cy="2286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85716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585716" y="4114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pessoal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85716" y="47091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playlists, curtidas e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usuário monta seu próprio espaço musical.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1876" y="201168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151876" y="2011680"/>
            <a:ext cx="3566160" cy="457200"/>
          </a:xfrm>
          <a:prstGeom prst="roundRect">
            <a:avLst>
              <a:gd name="adj" fmla="val 30000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151876" y="2240280"/>
            <a:ext cx="3566160" cy="2286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426196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8426196" y="4114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26196" y="47091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escura, fluida e responsiva, com foco na experiência imersiva do streaming musical.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•  Experiência Criativa 2026.1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Sistema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módulos do Aurora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0916" y="182880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1A1B3A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842516" y="210312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42516" y="22402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3796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3796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 · JS · CSS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9556" y="4270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Login / Cadastro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9556" y="45628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19556" y="48554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Playlist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9556" y="5148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Biblioteca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9556" y="5440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Perfil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11396" y="182880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1A1B3A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82996" y="210312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82996" y="22402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94276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94276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0036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Rotas / Sessões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0036" y="4270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Bcrypt + Auth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0036" y="45628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Validação CRUD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0036" y="48554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Upload de imagens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0036" y="5148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API REST JSON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1876" y="182880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1A1B3A"/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9523476" y="2103120"/>
            <a:ext cx="822960" cy="82296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523476" y="22402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34756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334756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Aurora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00516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Usuário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00516" y="4270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Artista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00516" y="45628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Álbum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00516" y="48554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Música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00516" y="5148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Playlist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00516" y="5440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Curtidas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62757" y="3657600"/>
            <a:ext cx="9822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95528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•  Experiência Criativa 2026.1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D6D9ED37-B774-AF9A-2482-40B0A1A28A69}"/>
              </a:ext>
            </a:extLst>
          </p:cNvPr>
          <p:cNvSpPr/>
          <p:nvPr/>
        </p:nvSpPr>
        <p:spPr>
          <a:xfrm>
            <a:off x="7647041" y="3644448"/>
            <a:ext cx="9822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ocumento 25">
            <a:extLst>
              <a:ext uri="{FF2B5EF4-FFF2-40B4-BE49-F238E27FC236}">
                <a16:creationId xmlns:a16="http://schemas.microsoft.com/office/drawing/2014/main" id="{9E8585FA-0C13-1F47-7D54-12D5E5CE018C}"/>
              </a:ext>
            </a:extLst>
          </p:cNvPr>
          <p:cNvSpPr/>
          <p:nvPr/>
        </p:nvSpPr>
        <p:spPr>
          <a:xfrm>
            <a:off x="0" y="0"/>
            <a:ext cx="12192000" cy="1737360"/>
          </a:xfrm>
          <a:prstGeom prst="flowChartDocument">
            <a:avLst/>
          </a:prstGeom>
          <a:solidFill>
            <a:srgbClr val="7C3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— Login &amp; Sessão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segura com perfis diferenciados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02193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1A1B3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906126" y="23317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906126" y="2304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54766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perfis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4766" y="26517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(usuário comum) e Admin com painel próprio.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6126" y="33832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906126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54766" y="3337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com Bcrypt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54766" y="37033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+ salt; nada de senha em texto puro no banco.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6126" y="44348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906126" y="4407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4766" y="4389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com timeout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4766" y="47548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Renovação automática + expiração por inatividade.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6126" y="548640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906126" y="5458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54766" y="5440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Redirecionamento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4766" y="58064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protegidas redirecionam para /login.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•  Experiência Criativa 2026.1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ocumento 35">
            <a:extLst>
              <a:ext uri="{FF2B5EF4-FFF2-40B4-BE49-F238E27FC236}">
                <a16:creationId xmlns:a16="http://schemas.microsoft.com/office/drawing/2014/main" id="{27ACAB37-38B0-3F01-6B08-2D71717722BD}"/>
              </a:ext>
            </a:extLst>
          </p:cNvPr>
          <p:cNvSpPr/>
          <p:nvPr/>
        </p:nvSpPr>
        <p:spPr>
          <a:xfrm>
            <a:off x="0" y="0"/>
            <a:ext cx="12192000" cy="1508760"/>
          </a:xfrm>
          <a:prstGeom prst="flowChartDocumen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— CRUDs com Validação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do Aurora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79476" y="1737360"/>
            <a:ext cx="21031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79476" y="1965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79476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9476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11196" y="1737360"/>
            <a:ext cx="21031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711196" y="1965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711196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11196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42916" y="1737360"/>
            <a:ext cx="21031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42916" y="1965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💿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042916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Álbuns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42916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74636" y="1737360"/>
            <a:ext cx="21031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374636" y="1965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374636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74636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06356" y="1737360"/>
            <a:ext cx="21031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706356" y="1965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9706356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06356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aplicadas em todos os formulários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37160" cy="1371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868680" y="4754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obrigatórios e tipos (e-mail, datas, duração)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892040"/>
            <a:ext cx="137160" cy="1371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537960" y="4754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Unicidade no banco (login, e-mail) com mensagens claras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37160" cy="1371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6868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imagens com validação de tamanho/formato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5532120"/>
            <a:ext cx="137160" cy="1371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53796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antes de exclusões (modal + duplo clique)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•  Experiência Criativa 2026.1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ocumento 28">
            <a:extLst>
              <a:ext uri="{FF2B5EF4-FFF2-40B4-BE49-F238E27FC236}">
                <a16:creationId xmlns:a16="http://schemas.microsoft.com/office/drawing/2014/main" id="{705CCE74-FF8F-1BBE-8579-CA2142AE5AAE}"/>
              </a:ext>
            </a:extLst>
          </p:cNvPr>
          <p:cNvSpPr/>
          <p:nvPr/>
        </p:nvSpPr>
        <p:spPr>
          <a:xfrm>
            <a:off x="0" y="0"/>
            <a:ext cx="12192000" cy="1508760"/>
          </a:xfrm>
          <a:prstGeom prst="flowChartDocument">
            <a:avLst/>
          </a:prstGeom>
          <a:solidFill>
            <a:srgbClr val="ED4899"/>
          </a:solidFill>
          <a:ln/>
        </p:spPr>
        <p:txBody>
          <a:bodyPr/>
          <a:lstStyle/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— Funcionalidades Sprint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da experiência Aurora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2356" y="1691640"/>
            <a:ext cx="53949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36676" y="2057400"/>
            <a:ext cx="1188720" cy="11887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36676" y="21031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08276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gênero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08276" y="25603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 podem ser exploradas por gênero musical — descoberta direcionada ao gosto do usuário.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691640"/>
            <a:ext cx="53949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505956" y="2057400"/>
            <a:ext cx="1188720" cy="11887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505956" y="21031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877556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 pessoais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77556" y="25603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editar e gerenciar playlists com músicas selecionadas da biblioteca completa.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" y="4069080"/>
            <a:ext cx="53949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36676" y="4434840"/>
            <a:ext cx="1188720" cy="11887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36676" y="45720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208276" y="4389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curtidas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08276" y="49377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músicas favoritas em uma página dedicada — acesso rápido ao que importa.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1636" y="4069080"/>
            <a:ext cx="53949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505956" y="4434840"/>
            <a:ext cx="1188720" cy="11887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505956" y="45720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877556" y="4389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de perfil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77556" y="49377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atualiza foto, dados pessoais e senha com validação em tempo real.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•  Experiência Criativa 2026.1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&amp; Navegabilidade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que constroem a experiência Aurora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79476" y="19202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A1B3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79476" y="1920240"/>
            <a:ext cx="109728" cy="1828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45236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escuro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5236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noturna que destaca capas e arte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65676" y="19202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A1B3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265676" y="1920240"/>
            <a:ext cx="109728" cy="18288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31436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fluido para desktop e mobile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1876" y="19202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A1B3A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151876" y="1920240"/>
            <a:ext cx="109728" cy="18288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17636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claras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17636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em ações e erros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9476" y="39776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A1B3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79476" y="3977640"/>
            <a:ext cx="109728" cy="1828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45236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perfil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5236" y="4754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imediata da conta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65676" y="39776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A1B3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265676" y="3977640"/>
            <a:ext cx="109728" cy="18288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631436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busca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31436" y="4754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gênero, artista e álbum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1876" y="39776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A1B3A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151876" y="3977640"/>
            <a:ext cx="109728" cy="18288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517636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consistente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517636" y="4754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B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e ações sempre acessíveis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•  Experiência Criativa 2026.1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Documento 43">
            <a:extLst>
              <a:ext uri="{FF2B5EF4-FFF2-40B4-BE49-F238E27FC236}">
                <a16:creationId xmlns:a16="http://schemas.microsoft.com/office/drawing/2014/main" id="{A3377449-93EC-8913-0C21-2B8D61ADF697}"/>
              </a:ext>
            </a:extLst>
          </p:cNvPr>
          <p:cNvSpPr/>
          <p:nvPr/>
        </p:nvSpPr>
        <p:spPr>
          <a:xfrm>
            <a:off x="-53788" y="-51703"/>
            <a:ext cx="12304059" cy="1508760"/>
          </a:xfrm>
          <a:prstGeom prst="flowChartDocumen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pt-BR">
              <a:solidFill>
                <a:srgbClr val="7C3AED"/>
              </a:solidFill>
            </a:endParaRPr>
          </a:p>
        </p:txBody>
      </p:sp>
      <p:sp>
        <p:nvSpPr>
          <p:cNvPr id="43" name="Retângulo Arredondado 42">
            <a:extLst>
              <a:ext uri="{FF2B5EF4-FFF2-40B4-BE49-F238E27FC236}">
                <a16:creationId xmlns:a16="http://schemas.microsoft.com/office/drawing/2014/main" id="{630D2177-36A8-E28D-BA0C-7A967C46F744}"/>
              </a:ext>
            </a:extLst>
          </p:cNvPr>
          <p:cNvSpPr/>
          <p:nvPr/>
        </p:nvSpPr>
        <p:spPr>
          <a:xfrm>
            <a:off x="1322432" y="5266068"/>
            <a:ext cx="4374277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42" name="Retângulo Arredondado 41">
            <a:extLst>
              <a:ext uri="{FF2B5EF4-FFF2-40B4-BE49-F238E27FC236}">
                <a16:creationId xmlns:a16="http://schemas.microsoft.com/office/drawing/2014/main" id="{78A154FE-6163-5B19-298E-68E41D81F7F1}"/>
              </a:ext>
            </a:extLst>
          </p:cNvPr>
          <p:cNvSpPr/>
          <p:nvPr/>
        </p:nvSpPr>
        <p:spPr>
          <a:xfrm>
            <a:off x="1322432" y="4390808"/>
            <a:ext cx="4374277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41" name="Retângulo Arredondado 40">
            <a:extLst>
              <a:ext uri="{FF2B5EF4-FFF2-40B4-BE49-F238E27FC236}">
                <a16:creationId xmlns:a16="http://schemas.microsoft.com/office/drawing/2014/main" id="{D43251FF-673D-12F8-0418-547F6EC7EFC5}"/>
              </a:ext>
            </a:extLst>
          </p:cNvPr>
          <p:cNvSpPr/>
          <p:nvPr/>
        </p:nvSpPr>
        <p:spPr>
          <a:xfrm>
            <a:off x="1322433" y="3528708"/>
            <a:ext cx="4374277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8" name="Retângulo Arredondado 37">
            <a:extLst>
              <a:ext uri="{FF2B5EF4-FFF2-40B4-BE49-F238E27FC236}">
                <a16:creationId xmlns:a16="http://schemas.microsoft.com/office/drawing/2014/main" id="{D04A309C-73A9-CF96-08C4-5B8D5B7ACB3B}"/>
              </a:ext>
            </a:extLst>
          </p:cNvPr>
          <p:cNvSpPr/>
          <p:nvPr/>
        </p:nvSpPr>
        <p:spPr>
          <a:xfrm>
            <a:off x="1322435" y="2744888"/>
            <a:ext cx="4374277" cy="594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Técnicos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54295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que sustentam o produto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105591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6881" y="2825588"/>
            <a:ext cx="38386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async, validação automática, docs OpenAPI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2435" y="3625688"/>
            <a:ext cx="37506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Aurora — escalável e gerenciado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2435" y="446349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JS vanilla — leve, sem framework pesado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2435" y="5236031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Sessions — autenticação segura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105591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números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0" y="2791391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0" y="2837111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00800" y="375151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HTML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840" y="2791391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006840" y="2837111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006840" y="375151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/ endpoints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4437311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00800" y="4483031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400800" y="539743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no banco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06840" y="4437311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006840" y="4483031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9006840" y="539743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CRUDs no painel admin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572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•  Experiência Criativa 2026.1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pic>
        <p:nvPicPr>
          <p:cNvPr id="31" name="Imagem 3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4BA4B045-9E6A-E216-72D9-3DF161455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73251"/>
            <a:ext cx="866926" cy="86692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3" name="Imagem 32" descr="Forma&#10;&#10;O conteúdo gerado por IA pode estar incorreto.">
            <a:extLst>
              <a:ext uri="{FF2B5EF4-FFF2-40B4-BE49-F238E27FC236}">
                <a16:creationId xmlns:a16="http://schemas.microsoft.com/office/drawing/2014/main" id="{5A146393-F8DD-77B6-BB88-955D66B70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" y="3513928"/>
            <a:ext cx="635000" cy="6350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5" name="Imagem 34" descr="Placa com fundo preto&#10;&#10;O conteúdo gerado por IA pode estar incorreto.">
            <a:extLst>
              <a:ext uri="{FF2B5EF4-FFF2-40B4-BE49-F238E27FC236}">
                <a16:creationId xmlns:a16="http://schemas.microsoft.com/office/drawing/2014/main" id="{0801849A-813B-DF99-367B-212E3F310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" y="4428927"/>
            <a:ext cx="635000" cy="6350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8DF900A8-9AFC-C3C9-A043-97DF1795D3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41" y="5234969"/>
            <a:ext cx="576197" cy="57619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Aurora entrega hoje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musical completa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2468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seguro, biblioteca, playlists, curtidas e perfil personalizável.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828800" y="2971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por gênero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que tornam a navegação mais relevante para cada usuário.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82880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 robusto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4389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CRUDs completos com validação e controle de acesso.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828800" y="4892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coesa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escuro, responsivo e com foco na experiência musical.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 •  Experiência Criativa 2026.1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Imagem 12" descr="Tela de celular&#10;&#10;O conteúdo gerado por IA pode estar incorreto.">
            <a:extLst>
              <a:ext uri="{FF2B5EF4-FFF2-40B4-BE49-F238E27FC236}">
                <a16:creationId xmlns:a16="http://schemas.microsoft.com/office/drawing/2014/main" id="{573C9E59-4AA6-6BF4-C1E5-8032AA4B3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56" b="99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755</Words>
  <Application>Microsoft Macintosh PowerPoint</Application>
  <PresentationFormat>Widescreen</PresentationFormat>
  <Paragraphs>194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Apple SD Gothic Neo</vt:lpstr>
      <vt:lpstr>Apple Braille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- Apresentação Final</dc:title>
  <dc:subject>PptxGenJS Presentation</dc:subject>
  <dc:creator>PptxGenJS</dc:creator>
  <cp:lastModifiedBy>Joao Lucas do Prado Ribeiro</cp:lastModifiedBy>
  <cp:revision>5</cp:revision>
  <dcterms:created xsi:type="dcterms:W3CDTF">2026-06-14T14:03:30Z</dcterms:created>
  <dcterms:modified xsi:type="dcterms:W3CDTF">2026-06-14T18:04:32Z</dcterms:modified>
</cp:coreProperties>
</file>